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9" r:id="rId1"/>
  </p:sldMasterIdLst>
  <p:notesMasterIdLst>
    <p:notesMasterId r:id="rId15"/>
  </p:notesMasterIdLst>
  <p:sldIdLst>
    <p:sldId id="278" r:id="rId2"/>
    <p:sldId id="258" r:id="rId3"/>
    <p:sldId id="259" r:id="rId4"/>
    <p:sldId id="276" r:id="rId5"/>
    <p:sldId id="262" r:id="rId6"/>
    <p:sldId id="272" r:id="rId7"/>
    <p:sldId id="266" r:id="rId8"/>
    <p:sldId id="265" r:id="rId9"/>
    <p:sldId id="263" r:id="rId10"/>
    <p:sldId id="273" r:id="rId11"/>
    <p:sldId id="268" r:id="rId12"/>
    <p:sldId id="274" r:id="rId13"/>
    <p:sldId id="27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AFD"/>
    <a:srgbClr val="EAF3FA"/>
    <a:srgbClr val="C9E1F2"/>
    <a:srgbClr val="1B2A59"/>
    <a:srgbClr val="1E2A38"/>
    <a:srgbClr val="F2F8FC"/>
    <a:srgbClr val="555555"/>
    <a:srgbClr val="DAEBF6"/>
    <a:srgbClr val="D4EAF7"/>
    <a:srgbClr val="EAF2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27" autoAdjust="0"/>
    <p:restoredTop sz="94656" autoAdjust="0"/>
  </p:normalViewPr>
  <p:slideViewPr>
    <p:cSldViewPr snapToGrid="0">
      <p:cViewPr varScale="1">
        <p:scale>
          <a:sx n="80" d="100"/>
          <a:sy n="80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F01E9F-740B-4A29-B6B4-028B3F57B87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382AC-6D21-451D-A7CE-0E513A816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317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382AC-6D21-451D-A7CE-0E513A8166F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097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4AB5B-59E2-4B5C-9237-6C35CA7E5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4F89-27A7-4E85-9CDB-91A572B11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2F152-4AA2-4038-B0B5-23F108DE5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5233-BEF4-4562-9CA5-087F2176A07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6EAC8-77CB-4C03-ACA4-5C6D10F34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0468B-BA44-42E6-B86F-E13A97A29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91D2-08B9-4CA4-8058-08CC242FB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836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66569-AE25-4CB3-8292-B9DAF8ECD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7D01A-7521-48EE-9EDF-ECEC68ABE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5FE2F-D789-4EFB-B54E-D176698E7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5233-BEF4-4562-9CA5-087F2176A07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430C1-2215-4AE8-A0FC-951B08E8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401CC-7974-4BD5-A278-B3227805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91D2-08B9-4CA4-8058-08CC242FB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535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A85A6-4EC8-401B-A753-B803F31C1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13D7A-D1B7-40DF-9A52-1E5ABE3E1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0FA36-0AB6-44DA-8A1D-BB8C0F0AE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5233-BEF4-4562-9CA5-087F2176A07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84FE3-EEBA-41CB-8BD8-3E374A044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61676-CE9C-4EBB-BA17-155AB46F1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91D2-08B9-4CA4-8058-08CC242FB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0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78A15-D997-483D-BA19-1AF07F16E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D12F3-3944-4274-B7D4-CB98E2CFA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830AD6-8C61-46C0-8D81-87D419AC7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DF0307-5995-4806-B455-B3DBEA707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5233-BEF4-4562-9CA5-087F2176A07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282DA-969B-43D4-8E7D-16AC99EBB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EA4A70-795C-4A32-8961-6DC0C103C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91D2-08B9-4CA4-8058-08CC242FB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609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5033-CA8E-48A6-8B2B-62947C7A8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6D468-05BA-480A-AA69-380AD819B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2638FE-2864-41FE-A94A-832305789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9B4784-3457-4270-9EB6-D122CF6D68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0C3D29-C681-4DEC-9196-EAC087FC60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ABCF08-02B6-49B1-A84D-1291B784E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5233-BEF4-4562-9CA5-087F2176A07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FC6D38-EB83-4DDD-AA21-5D4D5E8C4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1C9347-83CE-40F2-B4D4-172DE4B0B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91D2-08B9-4CA4-8058-08CC242FB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668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35A27-2923-413C-AA8B-1EE7ACF86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A0AA3E-F0E3-4523-8E49-703EF59A6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5233-BEF4-4562-9CA5-087F2176A07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D150AB-EA4A-4B57-A436-34AFF412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F0A632-81C8-42FB-8D06-2BEF0C10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91D2-08B9-4CA4-8058-08CC242FB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4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85ABCA-415C-4423-A006-219B27047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5233-BEF4-4562-9CA5-087F2176A07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572732-D5B8-4872-9E5F-9A06FFE11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7402A-6FE7-40C5-A59F-E56C431CF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91D2-08B9-4CA4-8058-08CC242FB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00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CB967-B1F3-4DD8-9840-B82AEA06E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7B843-23FF-4103-A1BE-4484F507F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FDAD89-9ADC-47A5-BA33-917C200DB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185CA-FFC7-411D-8384-906A04A85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5233-BEF4-4562-9CA5-087F2176A07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5B799D-549D-4EAB-A27B-473540AB6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15ACD-21BA-4E2C-B22F-88E062807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91D2-08B9-4CA4-8058-08CC242FB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66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F2FE4-69E1-48FF-9222-8BF7BC93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2E4929-4183-4737-ACBE-45CE861323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0B8C76-E39C-4661-9A27-4899BCB08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04CAA-A0E5-4DDC-B318-3B1E7F3E8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5233-BEF4-4562-9CA5-087F2176A07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0E1E7-480B-4086-81C9-179565B81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6643F-61B8-453C-B2B0-644812EA1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91D2-08B9-4CA4-8058-08CC242FB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55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4653-A475-4AB3-9B4C-CA5A483EA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FD84F4-D527-4AFB-A9E1-8DEAEF8EB5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822C3-818B-4902-B530-6874C0A1D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5233-BEF4-4562-9CA5-087F2176A07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C6541-01E3-43CB-8B50-7FB33FB9E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99BCA-30BD-4F39-90B3-7D8042DF0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91D2-08B9-4CA4-8058-08CC242FB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747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B66E6E-E808-4355-815C-C50B51FC6C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27A6AF-BB5E-4A57-88CF-628E3098F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67F93-0DF4-4D1F-A815-BC3119DD1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5233-BEF4-4562-9CA5-087F2176A07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03495-0287-42D7-8DDC-3537B2022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9BEAD-B9EF-462C-83A8-C0BF715EA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91D2-08B9-4CA4-8058-08CC242FB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66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90D386-4B7B-4C05-9174-382699CB3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830F3-CA85-4820-8BF8-E5AB0BE5B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B127E-E26A-4D4A-9AAB-F70738D44D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75233-BEF4-4562-9CA5-087F2176A07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4E967-9550-403F-BC09-620FFCEA06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E7C24-F3C3-495E-9D2A-23A68AE477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2091D2-08B9-4CA4-8058-08CC242FB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398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0" r:id="rId1"/>
    <p:sldLayoutId id="2147484081" r:id="rId2"/>
    <p:sldLayoutId id="2147484082" r:id="rId3"/>
    <p:sldLayoutId id="2147484083" r:id="rId4"/>
    <p:sldLayoutId id="2147484084" r:id="rId5"/>
    <p:sldLayoutId id="2147484085" r:id="rId6"/>
    <p:sldLayoutId id="2147484086" r:id="rId7"/>
    <p:sldLayoutId id="2147484087" r:id="rId8"/>
    <p:sldLayoutId id="2147484088" r:id="rId9"/>
    <p:sldLayoutId id="2147484089" r:id="rId10"/>
    <p:sldLayoutId id="214748409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CB4891-278A-44B5-926B-7CE53C082A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5738648" cy="6871503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stA="45000" endPos="1000" dist="76200" dir="5400000" sy="-100000" algn="bl" rotWithShape="0"/>
            <a:softEdge rad="381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35EF1F-BA68-44DF-ACC0-E2CEDDB696BB}"/>
              </a:ext>
            </a:extLst>
          </p:cNvPr>
          <p:cNvSpPr txBox="1"/>
          <p:nvPr/>
        </p:nvSpPr>
        <p:spPr>
          <a:xfrm flipH="1">
            <a:off x="5822730" y="1187669"/>
            <a:ext cx="6243144" cy="1578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Bank Customer Churn Analysis</a:t>
            </a:r>
            <a:endParaRPr lang="en-US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F5DB8B-CF33-483B-8006-767C5661E2A9}"/>
              </a:ext>
            </a:extLst>
          </p:cNvPr>
          <p:cNvSpPr txBox="1"/>
          <p:nvPr/>
        </p:nvSpPr>
        <p:spPr>
          <a:xfrm flipH="1">
            <a:off x="5969876" y="2766563"/>
            <a:ext cx="5139558" cy="452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Using Python Data Analytics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67A46C-F887-4D72-A83A-EA82ECD396BD}"/>
              </a:ext>
            </a:extLst>
          </p:cNvPr>
          <p:cNvSpPr txBox="1"/>
          <p:nvPr/>
        </p:nvSpPr>
        <p:spPr>
          <a:xfrm>
            <a:off x="5969876" y="3429000"/>
            <a:ext cx="5738648" cy="804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 data-driven approach to identify customers likely to leave the bank and develop strategic retention initiatives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677EC7-8F6C-4363-91E8-FC7E4370A963}"/>
              </a:ext>
            </a:extLst>
          </p:cNvPr>
          <p:cNvSpPr txBox="1"/>
          <p:nvPr/>
        </p:nvSpPr>
        <p:spPr>
          <a:xfrm flipH="1">
            <a:off x="8408276" y="4918841"/>
            <a:ext cx="3100552" cy="804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Prepared By:</a:t>
            </a:r>
            <a:r>
              <a:rPr lang="en-US" sz="18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Chinta Bhavana Data Analyst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00050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c 3">
            <a:extLst>
              <a:ext uri="{FF2B5EF4-FFF2-40B4-BE49-F238E27FC236}">
                <a16:creationId xmlns:a16="http://schemas.microsoft.com/office/drawing/2014/main" id="{5A401089-3481-43D7-A028-B91135001E8A}"/>
              </a:ext>
            </a:extLst>
          </p:cNvPr>
          <p:cNvSpPr/>
          <p:nvPr/>
        </p:nvSpPr>
        <p:spPr>
          <a:xfrm>
            <a:off x="10122195" y="3429000"/>
            <a:ext cx="45719" cy="45719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947F38-BDA3-4047-B5D2-428787B1A02C}"/>
              </a:ext>
            </a:extLst>
          </p:cNvPr>
          <p:cNvSpPr txBox="1"/>
          <p:nvPr/>
        </p:nvSpPr>
        <p:spPr>
          <a:xfrm>
            <a:off x="2752725" y="395621"/>
            <a:ext cx="5924550" cy="584775"/>
          </a:xfrm>
          <a:prstGeom prst="rect">
            <a:avLst/>
          </a:prstGeom>
          <a:solidFill>
            <a:srgbClr val="EAF2FB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            Business  Understanding 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C5AD35E2-FC8E-4B1A-9BEA-567908D9BC2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23" b="13623"/>
          <a:stretch>
            <a:fillRect/>
          </a:stretch>
        </p:blipFill>
        <p:spPr>
          <a:xfrm>
            <a:off x="723900" y="104775"/>
            <a:ext cx="1523999" cy="1302882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9EA013-ADD7-45AF-9E88-761A9EBC8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7590" y="1562100"/>
            <a:ext cx="11207160" cy="490028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1B2A59"/>
                </a:solidFill>
              </a:rPr>
              <a:t>Banks depend on long-term customer relationships for stable revenue.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1B2A59"/>
                </a:solidFill>
              </a:rPr>
              <a:t>When customers leave (churn) the bank loses income and must spend more to attract new customers.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1B2A59"/>
                </a:solidFill>
              </a:rPr>
              <a:t>Understanding churn is important because it helps the bank figure out which customers are at risk and why they are leaving.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 To solve this problem the bank wants to understand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2A59"/>
                </a:solidFill>
              </a:rPr>
              <a:t>Who is leaving? (age group, geography, customer type)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2A59"/>
                </a:solidFill>
              </a:rPr>
              <a:t>Why are they leaving? (low balance, credit score, activity level, product usage)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2A59"/>
                </a:solidFill>
              </a:rPr>
              <a:t>What factors predict churn?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2A59"/>
                </a:solidFill>
              </a:rPr>
              <a:t>How can the bank reduce churn?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Outcome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2A59"/>
                </a:solidFill>
              </a:rPr>
              <a:t> Clear insights that help the bank improve customer satisfaction  retain more customers  and increase long-term profitability.</a:t>
            </a:r>
          </a:p>
        </p:txBody>
      </p:sp>
    </p:spTree>
    <p:extLst>
      <p:ext uri="{BB962C8B-B14F-4D97-AF65-F5344CB8AC3E}">
        <p14:creationId xmlns:p14="http://schemas.microsoft.com/office/powerpoint/2010/main" val="1294079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0495A2-66BF-468F-AA5A-3C7B6CFBD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325" y="638175"/>
            <a:ext cx="3962400" cy="495299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Dataset  Information</a:t>
            </a:r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F0086C22-7E64-42E5-944B-5005F89FF4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7783103"/>
              </p:ext>
            </p:extLst>
          </p:nvPr>
        </p:nvGraphicFramePr>
        <p:xfrm>
          <a:off x="8801100" y="319314"/>
          <a:ext cx="3028043" cy="592908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3028043">
                  <a:extLst>
                    <a:ext uri="{9D8B030D-6E8A-4147-A177-3AD203B41FA5}">
                      <a16:colId xmlns:a16="http://schemas.microsoft.com/office/drawing/2014/main" val="2072407872"/>
                    </a:ext>
                  </a:extLst>
                </a:gridCol>
              </a:tblGrid>
              <a:tr h="39527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Columns Names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247720"/>
                  </a:ext>
                </a:extLst>
              </a:tr>
              <a:tr h="395272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Row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724192"/>
                  </a:ext>
                </a:extLst>
              </a:tr>
              <a:tr h="395272">
                <a:tc>
                  <a:txBody>
                    <a:bodyPr/>
                    <a:lstStyle/>
                    <a:p>
                      <a:r>
                        <a:rPr lang="en-US" dirty="0"/>
                        <a:t>Customer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322247"/>
                  </a:ext>
                </a:extLst>
              </a:tr>
              <a:tr h="395272">
                <a:tc>
                  <a:txBody>
                    <a:bodyPr/>
                    <a:lstStyle/>
                    <a:p>
                      <a:r>
                        <a:rPr lang="en-US" dirty="0"/>
                        <a:t>Surname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627114"/>
                  </a:ext>
                </a:extLst>
              </a:tr>
              <a:tr h="395272">
                <a:tc>
                  <a:txBody>
                    <a:bodyPr/>
                    <a:lstStyle/>
                    <a:p>
                      <a:r>
                        <a:rPr lang="en-US" dirty="0"/>
                        <a:t>Credit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51385"/>
                  </a:ext>
                </a:extLst>
              </a:tr>
              <a:tr h="395272">
                <a:tc>
                  <a:txBody>
                    <a:bodyPr/>
                    <a:lstStyle/>
                    <a:p>
                      <a:r>
                        <a:rPr lang="en-US" dirty="0"/>
                        <a:t>Geography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873309"/>
                  </a:ext>
                </a:extLst>
              </a:tr>
              <a:tr h="395272"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323895"/>
                  </a:ext>
                </a:extLst>
              </a:tr>
              <a:tr h="395272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717631"/>
                  </a:ext>
                </a:extLst>
              </a:tr>
              <a:tr h="395272">
                <a:tc>
                  <a:txBody>
                    <a:bodyPr/>
                    <a:lstStyle/>
                    <a:p>
                      <a:r>
                        <a:rPr lang="en-US" dirty="0"/>
                        <a:t>Tenure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841108"/>
                  </a:ext>
                </a:extLst>
              </a:tr>
              <a:tr h="395272">
                <a:tc>
                  <a:txBody>
                    <a:bodyPr/>
                    <a:lstStyle/>
                    <a:p>
                      <a:r>
                        <a:rPr lang="en-US" dirty="0"/>
                        <a:t>Balance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716425"/>
                  </a:ext>
                </a:extLst>
              </a:tr>
              <a:tr h="395272">
                <a:tc>
                  <a:txBody>
                    <a:bodyPr/>
                    <a:lstStyle/>
                    <a:p>
                      <a:r>
                        <a:rPr lang="en-US" dirty="0"/>
                        <a:t>Number of Products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417114"/>
                  </a:ext>
                </a:extLst>
              </a:tr>
              <a:tr h="395272">
                <a:tc>
                  <a:txBody>
                    <a:bodyPr/>
                    <a:lstStyle/>
                    <a:p>
                      <a:r>
                        <a:rPr lang="en-US" dirty="0"/>
                        <a:t>Has Credit Score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910775"/>
                  </a:ext>
                </a:extLst>
              </a:tr>
              <a:tr h="395272">
                <a:tc>
                  <a:txBody>
                    <a:bodyPr/>
                    <a:lstStyle/>
                    <a:p>
                      <a:r>
                        <a:rPr lang="en-US" dirty="0"/>
                        <a:t>Is Active Members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492593"/>
                  </a:ext>
                </a:extLst>
              </a:tr>
              <a:tr h="395272">
                <a:tc>
                  <a:txBody>
                    <a:bodyPr/>
                    <a:lstStyle/>
                    <a:p>
                      <a:r>
                        <a:rPr lang="en-US" dirty="0"/>
                        <a:t>Estimated Salary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870672"/>
                  </a:ext>
                </a:extLst>
              </a:tr>
              <a:tr h="395272">
                <a:tc>
                  <a:txBody>
                    <a:bodyPr/>
                    <a:lstStyle/>
                    <a:p>
                      <a:r>
                        <a:rPr lang="en-US" dirty="0"/>
                        <a:t>Exited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130006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9A2D085E-13FF-44C3-9DC2-5DC1BF742F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34" y="114275"/>
            <a:ext cx="2677233" cy="14808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67F7E9-16FE-417E-AADA-674A830D1F80}"/>
              </a:ext>
            </a:extLst>
          </p:cNvPr>
          <p:cNvSpPr txBox="1"/>
          <p:nvPr/>
        </p:nvSpPr>
        <p:spPr>
          <a:xfrm flipH="1">
            <a:off x="1390649" y="2171042"/>
            <a:ext cx="18478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1B2A59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10K</a:t>
            </a:r>
            <a:endParaRPr lang="en-US" sz="6000" dirty="0">
              <a:solidFill>
                <a:srgbClr val="1B2A59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F5A04B-B23F-4790-AE5C-4A5A968AB639}"/>
              </a:ext>
            </a:extLst>
          </p:cNvPr>
          <p:cNvSpPr txBox="1"/>
          <p:nvPr/>
        </p:nvSpPr>
        <p:spPr>
          <a:xfrm rot="10800000" flipH="1" flipV="1">
            <a:off x="161924" y="3048139"/>
            <a:ext cx="3800475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400" dirty="0"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Customer Records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EE13EA-6889-444C-A02D-B2D61B1FBB5C}"/>
              </a:ext>
            </a:extLst>
          </p:cNvPr>
          <p:cNvSpPr txBox="1"/>
          <p:nvPr/>
        </p:nvSpPr>
        <p:spPr>
          <a:xfrm>
            <a:off x="-38100" y="3639994"/>
            <a:ext cx="4648200" cy="76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lnSpc>
                <a:spcPts val="265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1B2A5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Strong foundation for understanding churn behavior patterns</a:t>
            </a:r>
            <a:endParaRPr lang="en-US" sz="1600" dirty="0">
              <a:solidFill>
                <a:srgbClr val="1B2A59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397C6A-F071-45AE-8385-156159DD02C9}"/>
              </a:ext>
            </a:extLst>
          </p:cNvPr>
          <p:cNvSpPr txBox="1"/>
          <p:nvPr/>
        </p:nvSpPr>
        <p:spPr>
          <a:xfrm>
            <a:off x="5757860" y="2337755"/>
            <a:ext cx="1514477" cy="883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6600" dirty="0">
                <a:solidFill>
                  <a:srgbClr val="1B2A59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14</a:t>
            </a:r>
            <a:endParaRPr lang="en-US" sz="6600" dirty="0">
              <a:solidFill>
                <a:srgbClr val="1B2A59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7885F-F44C-466E-9465-8693DBC36679}"/>
              </a:ext>
            </a:extLst>
          </p:cNvPr>
          <p:cNvSpPr txBox="1"/>
          <p:nvPr/>
        </p:nvSpPr>
        <p:spPr>
          <a:xfrm>
            <a:off x="5191124" y="3048139"/>
            <a:ext cx="2781302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400" dirty="0"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Feature Columns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7658C5-C42A-41A0-B59A-EEDF8362E989}"/>
              </a:ext>
            </a:extLst>
          </p:cNvPr>
          <p:cNvSpPr txBox="1"/>
          <p:nvPr/>
        </p:nvSpPr>
        <p:spPr>
          <a:xfrm>
            <a:off x="4714875" y="3639993"/>
            <a:ext cx="3962400" cy="751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lnSpc>
                <a:spcPts val="265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1B2A5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Demographics, account details, activity status, and churn indicators</a:t>
            </a:r>
            <a:endParaRPr lang="en-US" sz="1600" dirty="0">
              <a:solidFill>
                <a:srgbClr val="1B2A59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B46BE2-C09C-43B3-838F-77BEC8F5CEC0}"/>
              </a:ext>
            </a:extLst>
          </p:cNvPr>
          <p:cNvSpPr txBox="1"/>
          <p:nvPr/>
        </p:nvSpPr>
        <p:spPr>
          <a:xfrm flipH="1">
            <a:off x="161923" y="5267325"/>
            <a:ext cx="8086725" cy="758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ts val="265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1B2A5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These columns help identify patterns that influence whether a customer stays with or leaves the bank.</a:t>
            </a:r>
            <a:endParaRPr lang="en-US" sz="1600" dirty="0">
              <a:solidFill>
                <a:srgbClr val="1B2A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2386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4EEFC0-5A79-47ED-9E21-A346381088F3}"/>
              </a:ext>
            </a:extLst>
          </p:cNvPr>
          <p:cNvSpPr txBox="1"/>
          <p:nvPr/>
        </p:nvSpPr>
        <p:spPr>
          <a:xfrm flipH="1">
            <a:off x="157655" y="190501"/>
            <a:ext cx="2459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B2A59"/>
                </a:solidFill>
              </a:rPr>
              <a:t>Methodology</a:t>
            </a:r>
            <a:r>
              <a:rPr lang="en-US" sz="2800" dirty="0">
                <a:solidFill>
                  <a:srgbClr val="1B2A59"/>
                </a:solidFill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398C1-4EF3-43CA-9526-B91AA4EC39B9}"/>
              </a:ext>
            </a:extLst>
          </p:cNvPr>
          <p:cNvSpPr txBox="1"/>
          <p:nvPr/>
        </p:nvSpPr>
        <p:spPr>
          <a:xfrm flipH="1">
            <a:off x="2617075" y="451946"/>
            <a:ext cx="8317617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[Data Collection] → [Data Cleaning] → [Data Preparation] → [Exploration] →     [Visualization] → [Insights]</a:t>
            </a:r>
          </a:p>
        </p:txBody>
      </p:sp>
      <p:pic>
        <p:nvPicPr>
          <p:cNvPr id="13" name="Image 0">
            <a:extLst>
              <a:ext uri="{FF2B5EF4-FFF2-40B4-BE49-F238E27FC236}">
                <a16:creationId xmlns:a16="http://schemas.microsoft.com/office/drawing/2014/main" id="{3F5B6A38-45AC-4721-B6D3-D80FEA5D4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19" y="1134483"/>
            <a:ext cx="846653" cy="1015960"/>
          </a:xfrm>
          <a:prstGeom prst="rect">
            <a:avLst/>
          </a:prstGeom>
        </p:spPr>
      </p:pic>
      <p:pic>
        <p:nvPicPr>
          <p:cNvPr id="16" name="Image 1">
            <a:extLst>
              <a:ext uri="{FF2B5EF4-FFF2-40B4-BE49-F238E27FC236}">
                <a16:creationId xmlns:a16="http://schemas.microsoft.com/office/drawing/2014/main" id="{9C2C5C44-976C-4872-927F-FCFAFB32A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9" y="2078467"/>
            <a:ext cx="846653" cy="1015960"/>
          </a:xfrm>
          <a:prstGeom prst="rect">
            <a:avLst/>
          </a:prstGeom>
        </p:spPr>
      </p:pic>
      <p:pic>
        <p:nvPicPr>
          <p:cNvPr id="17" name="Image 2">
            <a:extLst>
              <a:ext uri="{FF2B5EF4-FFF2-40B4-BE49-F238E27FC236}">
                <a16:creationId xmlns:a16="http://schemas.microsoft.com/office/drawing/2014/main" id="{A9F25764-07FB-4119-835A-530B23AB8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18" y="2985723"/>
            <a:ext cx="846653" cy="1015960"/>
          </a:xfrm>
          <a:prstGeom prst="rect">
            <a:avLst/>
          </a:prstGeom>
        </p:spPr>
      </p:pic>
      <p:pic>
        <p:nvPicPr>
          <p:cNvPr id="18" name="Image 3">
            <a:extLst>
              <a:ext uri="{FF2B5EF4-FFF2-40B4-BE49-F238E27FC236}">
                <a16:creationId xmlns:a16="http://schemas.microsoft.com/office/drawing/2014/main" id="{6D4B5721-8AF7-4A46-9D7D-7A358E4012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419" y="3913633"/>
            <a:ext cx="846653" cy="1015960"/>
          </a:xfrm>
          <a:prstGeom prst="rect">
            <a:avLst/>
          </a:prstGeom>
        </p:spPr>
      </p:pic>
      <p:pic>
        <p:nvPicPr>
          <p:cNvPr id="19" name="Image 4">
            <a:extLst>
              <a:ext uri="{FF2B5EF4-FFF2-40B4-BE49-F238E27FC236}">
                <a16:creationId xmlns:a16="http://schemas.microsoft.com/office/drawing/2014/main" id="{7654004E-6563-46B9-A02D-90DA7E866A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419" y="4826079"/>
            <a:ext cx="846653" cy="1015960"/>
          </a:xfrm>
          <a:prstGeom prst="rect">
            <a:avLst/>
          </a:prstGeom>
        </p:spPr>
      </p:pic>
      <p:pic>
        <p:nvPicPr>
          <p:cNvPr id="20" name="Image 5">
            <a:extLst>
              <a:ext uri="{FF2B5EF4-FFF2-40B4-BE49-F238E27FC236}">
                <a16:creationId xmlns:a16="http://schemas.microsoft.com/office/drawing/2014/main" id="{75AECB0C-CF15-4206-8B8A-75C3B10281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419" y="5798094"/>
            <a:ext cx="846653" cy="10159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F97881-EDD8-4DE0-AA33-56ECCE5A068B}"/>
              </a:ext>
            </a:extLst>
          </p:cNvPr>
          <p:cNvSpPr txBox="1"/>
          <p:nvPr/>
        </p:nvSpPr>
        <p:spPr>
          <a:xfrm flipH="1">
            <a:off x="1208689" y="1331792"/>
            <a:ext cx="6537438" cy="922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2150"/>
              </a:lnSpc>
              <a:buNone/>
            </a:pPr>
            <a:endParaRPr lang="en-US" sz="1600" b="1" dirty="0">
              <a:solidFill>
                <a:srgbClr val="272525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  <a:p>
            <a:pPr>
              <a:lnSpc>
                <a:spcPts val="2150"/>
              </a:lnSpc>
            </a:pPr>
            <a:r>
              <a:rPr lang="en-US" sz="1400" dirty="0">
                <a:solidFill>
                  <a:srgbClr val="1B2A59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Imported bank customer dataset into Python using Pandas library</a:t>
            </a:r>
            <a:endParaRPr lang="en-US" sz="1400" dirty="0">
              <a:solidFill>
                <a:srgbClr val="1B2A59"/>
              </a:solidFill>
            </a:endParaRPr>
          </a:p>
          <a:p>
            <a:pPr marL="0" indent="0" algn="l">
              <a:lnSpc>
                <a:spcPts val="2150"/>
              </a:lnSpc>
              <a:buNone/>
            </a:pP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95976A-0364-4BBC-9659-E3C7601878B4}"/>
              </a:ext>
            </a:extLst>
          </p:cNvPr>
          <p:cNvSpPr txBox="1"/>
          <p:nvPr/>
        </p:nvSpPr>
        <p:spPr>
          <a:xfrm>
            <a:off x="1208690" y="1243988"/>
            <a:ext cx="2837793" cy="363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8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Collection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D9CFDF-B28E-4999-BCBB-6738CFADD82C}"/>
              </a:ext>
            </a:extLst>
          </p:cNvPr>
          <p:cNvSpPr txBox="1"/>
          <p:nvPr/>
        </p:nvSpPr>
        <p:spPr>
          <a:xfrm>
            <a:off x="1208690" y="2168178"/>
            <a:ext cx="2448910" cy="364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Cleaning</a:t>
            </a:r>
            <a:endParaRPr lang="en-US" sz="1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5F49C6-070E-4668-B007-E7D00BF03552}"/>
              </a:ext>
            </a:extLst>
          </p:cNvPr>
          <p:cNvSpPr txBox="1"/>
          <p:nvPr/>
        </p:nvSpPr>
        <p:spPr>
          <a:xfrm>
            <a:off x="1302705" y="2533021"/>
            <a:ext cx="8661102" cy="341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B2A59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Removed duplicates, checked missing values, corrected data types for consistency</a:t>
            </a:r>
            <a:endParaRPr lang="en-US" sz="1400" dirty="0">
              <a:solidFill>
                <a:srgbClr val="1B2A59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4F5B91-D330-4329-BB1A-BBF54C10BC74}"/>
              </a:ext>
            </a:extLst>
          </p:cNvPr>
          <p:cNvSpPr txBox="1"/>
          <p:nvPr/>
        </p:nvSpPr>
        <p:spPr>
          <a:xfrm>
            <a:off x="1208691" y="3041845"/>
            <a:ext cx="2448910" cy="363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8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Preparation</a:t>
            </a:r>
            <a:endParaRPr lang="en-US" sz="1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CB7889-CF0D-4DDB-A917-D900AD29E14E}"/>
              </a:ext>
            </a:extLst>
          </p:cNvPr>
          <p:cNvSpPr txBox="1"/>
          <p:nvPr/>
        </p:nvSpPr>
        <p:spPr>
          <a:xfrm flipH="1">
            <a:off x="1334814" y="3457903"/>
            <a:ext cx="7872247" cy="341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B2A59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Selected useful features, handled categorical variables, prepared for analysis</a:t>
            </a:r>
            <a:endParaRPr lang="en-US" sz="1400" dirty="0">
              <a:solidFill>
                <a:srgbClr val="1B2A59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FEF690-F634-4982-872D-249087B7C336}"/>
              </a:ext>
            </a:extLst>
          </p:cNvPr>
          <p:cNvSpPr txBox="1"/>
          <p:nvPr/>
        </p:nvSpPr>
        <p:spPr>
          <a:xfrm>
            <a:off x="1208689" y="4001683"/>
            <a:ext cx="3016469" cy="364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Exploration</a:t>
            </a:r>
            <a:endParaRPr lang="en-US" sz="1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9C8984-EF3F-403C-89F8-3DEBF25AC780}"/>
              </a:ext>
            </a:extLst>
          </p:cNvPr>
          <p:cNvSpPr txBox="1"/>
          <p:nvPr/>
        </p:nvSpPr>
        <p:spPr>
          <a:xfrm>
            <a:off x="1302705" y="4309462"/>
            <a:ext cx="7116081" cy="341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B2A59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Performed statistical summaries and explored distributions of key metrics</a:t>
            </a:r>
            <a:endParaRPr lang="en-US" sz="1400" dirty="0">
              <a:solidFill>
                <a:srgbClr val="1B2A59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769D48-3EBA-4C13-A48C-76463C0CD5A9}"/>
              </a:ext>
            </a:extLst>
          </p:cNvPr>
          <p:cNvSpPr txBox="1"/>
          <p:nvPr/>
        </p:nvSpPr>
        <p:spPr>
          <a:xfrm flipH="1">
            <a:off x="1208689" y="4929593"/>
            <a:ext cx="3016468" cy="364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Visualization</a:t>
            </a:r>
            <a:endParaRPr lang="en-US" sz="1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498676-F34F-4C64-8BE8-1EBD5D62A538}"/>
              </a:ext>
            </a:extLst>
          </p:cNvPr>
          <p:cNvSpPr txBox="1"/>
          <p:nvPr/>
        </p:nvSpPr>
        <p:spPr>
          <a:xfrm flipH="1">
            <a:off x="1208689" y="5192110"/>
            <a:ext cx="9144000" cy="341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B2A59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Created bar plots, histograms, and correlation heatmaps using Matplotlib and Seaborn</a:t>
            </a:r>
            <a:endParaRPr lang="en-US" sz="1400" dirty="0">
              <a:solidFill>
                <a:srgbClr val="1B2A59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FF63BC-7258-40B6-B7C9-33B4802419A9}"/>
              </a:ext>
            </a:extLst>
          </p:cNvPr>
          <p:cNvSpPr txBox="1"/>
          <p:nvPr/>
        </p:nvSpPr>
        <p:spPr>
          <a:xfrm flipH="1">
            <a:off x="1346068" y="5857503"/>
            <a:ext cx="2700415" cy="364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8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Insights</a:t>
            </a:r>
            <a:endParaRPr lang="en-US" sz="1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026C63-6D7A-488B-8B89-2115048BECDF}"/>
              </a:ext>
            </a:extLst>
          </p:cNvPr>
          <p:cNvSpPr txBox="1"/>
          <p:nvPr/>
        </p:nvSpPr>
        <p:spPr>
          <a:xfrm>
            <a:off x="1346068" y="6222346"/>
            <a:ext cx="8617739" cy="34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B2A59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Identified key patterns and factors influencing customer churn for strategic decisions</a:t>
            </a:r>
            <a:endParaRPr lang="en-US" sz="1400" dirty="0">
              <a:solidFill>
                <a:srgbClr val="1B2A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624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>
            <a:extLst>
              <a:ext uri="{FF2B5EF4-FFF2-40B4-BE49-F238E27FC236}">
                <a16:creationId xmlns:a16="http://schemas.microsoft.com/office/drawing/2014/main" id="{28B1E7D8-E408-49D7-BCF6-D4CDA7534A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82"/>
          <a:stretch/>
        </p:blipFill>
        <p:spPr bwMode="auto">
          <a:xfrm>
            <a:off x="94592" y="745674"/>
            <a:ext cx="4939863" cy="405130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D40D0F-3D12-42A4-926C-7C6B75C60119}"/>
              </a:ext>
            </a:extLst>
          </p:cNvPr>
          <p:cNvSpPr txBox="1"/>
          <p:nvPr/>
        </p:nvSpPr>
        <p:spPr>
          <a:xfrm flipH="1">
            <a:off x="809296" y="126124"/>
            <a:ext cx="40885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Visualizations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CDEE89-561B-4E40-8B5C-8E09C899E69C}"/>
              </a:ext>
            </a:extLst>
          </p:cNvPr>
          <p:cNvSpPr txBox="1"/>
          <p:nvPr/>
        </p:nvSpPr>
        <p:spPr>
          <a:xfrm flipH="1">
            <a:off x="94593" y="5010458"/>
            <a:ext cx="4372304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Gender Distribution</a:t>
            </a:r>
            <a:endParaRPr lang="en-US" sz="1600" dirty="0"/>
          </a:p>
        </p:txBody>
      </p:sp>
      <p:pic>
        <p:nvPicPr>
          <p:cNvPr id="8" name="Picture 12">
            <a:extLst>
              <a:ext uri="{FF2B5EF4-FFF2-40B4-BE49-F238E27FC236}">
                <a16:creationId xmlns:a16="http://schemas.microsoft.com/office/drawing/2014/main" id="{DEEF11E9-D40E-4A19-B6A7-D8517FB442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782"/>
          <a:stretch/>
        </p:blipFill>
        <p:spPr bwMode="auto">
          <a:xfrm>
            <a:off x="6726621" y="711847"/>
            <a:ext cx="4939863" cy="407405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8A4E92-D3F0-4078-8E0B-AFC03E0D1BEB}"/>
              </a:ext>
            </a:extLst>
          </p:cNvPr>
          <p:cNvSpPr txBox="1"/>
          <p:nvPr/>
        </p:nvSpPr>
        <p:spPr>
          <a:xfrm>
            <a:off x="94593" y="5372095"/>
            <a:ext cx="5370786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ts val="20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B2A59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The customer base shows a relatively balanced gender split with 5,457 males (54.6%) and 4,543 females (45.4%) across all 10,000 observations</a:t>
            </a:r>
            <a:r>
              <a:rPr lang="en-US" sz="18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55C843-283E-4E60-9B22-EADDAFEA8FD7}"/>
              </a:ext>
            </a:extLst>
          </p:cNvPr>
          <p:cNvSpPr txBox="1"/>
          <p:nvPr/>
        </p:nvSpPr>
        <p:spPr>
          <a:xfrm>
            <a:off x="6589986" y="4887310"/>
            <a:ext cx="5299177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Churn Distribution</a:t>
            </a: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6818A5-6C5A-48A4-9543-45F90711BFCB}"/>
              </a:ext>
            </a:extLst>
          </p:cNvPr>
          <p:cNvSpPr txBox="1"/>
          <p:nvPr/>
        </p:nvSpPr>
        <p:spPr>
          <a:xfrm>
            <a:off x="6831724" y="5350354"/>
            <a:ext cx="5162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B2A59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Overall 7,963 customers (79.6%) remained with the bank while 2,037 customers (20.4%) exited—establishing our baseline churn rate.</a:t>
            </a:r>
            <a:endParaRPr lang="en-US" sz="1600" dirty="0">
              <a:solidFill>
                <a:srgbClr val="1B2A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190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975B5E6E-F1DF-411F-9713-CA20F1785B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543"/>
          <a:stretch/>
        </p:blipFill>
        <p:spPr bwMode="auto">
          <a:xfrm>
            <a:off x="3000374" y="979231"/>
            <a:ext cx="6779869" cy="338857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E71CBF-04C0-4002-8B4D-4881B8D3E035}"/>
              </a:ext>
            </a:extLst>
          </p:cNvPr>
          <p:cNvSpPr txBox="1"/>
          <p:nvPr/>
        </p:nvSpPr>
        <p:spPr>
          <a:xfrm>
            <a:off x="7191375" y="1857375"/>
            <a:ext cx="3067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731636-3D2E-420D-812C-049073C9DE9C}"/>
              </a:ext>
            </a:extLst>
          </p:cNvPr>
          <p:cNvSpPr txBox="1"/>
          <p:nvPr/>
        </p:nvSpPr>
        <p:spPr>
          <a:xfrm>
            <a:off x="7343775" y="1990725"/>
            <a:ext cx="3067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3498A49-67CB-4522-8FE9-C967F0A908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375569"/>
              </p:ext>
            </p:extLst>
          </p:nvPr>
        </p:nvGraphicFramePr>
        <p:xfrm>
          <a:off x="257175" y="4552949"/>
          <a:ext cx="5486398" cy="204787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891336">
                  <a:extLst>
                    <a:ext uri="{9D8B030D-6E8A-4147-A177-3AD203B41FA5}">
                      <a16:colId xmlns:a16="http://schemas.microsoft.com/office/drawing/2014/main" val="2012445260"/>
                    </a:ext>
                  </a:extLst>
                </a:gridCol>
                <a:gridCol w="1198354">
                  <a:extLst>
                    <a:ext uri="{9D8B030D-6E8A-4147-A177-3AD203B41FA5}">
                      <a16:colId xmlns:a16="http://schemas.microsoft.com/office/drawing/2014/main" val="3339739147"/>
                    </a:ext>
                  </a:extLst>
                </a:gridCol>
                <a:gridCol w="1198354">
                  <a:extLst>
                    <a:ext uri="{9D8B030D-6E8A-4147-A177-3AD203B41FA5}">
                      <a16:colId xmlns:a16="http://schemas.microsoft.com/office/drawing/2014/main" val="2003218485"/>
                    </a:ext>
                  </a:extLst>
                </a:gridCol>
                <a:gridCol w="1198354">
                  <a:extLst>
                    <a:ext uri="{9D8B030D-6E8A-4147-A177-3AD203B41FA5}">
                      <a16:colId xmlns:a16="http://schemas.microsoft.com/office/drawing/2014/main" val="4268226831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lang="en-US" b="1" dirty="0"/>
                        <a:t>Age Group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Stay (0)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Exited (1)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Churn %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3911938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lang="en-US" dirty="0"/>
                        <a:t>0-25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21238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lang="en-US" dirty="0"/>
                        <a:t>26-40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5,168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640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629596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lang="en-US" dirty="0"/>
                        <a:t>41-60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1,881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1,236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39.6%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868089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lang="en-US" dirty="0"/>
                        <a:t>60+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056557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F1DB0C4-1091-4FFF-AF16-192AA04B9BAD}"/>
              </a:ext>
            </a:extLst>
          </p:cNvPr>
          <p:cNvSpPr txBox="1"/>
          <p:nvPr/>
        </p:nvSpPr>
        <p:spPr>
          <a:xfrm flipH="1">
            <a:off x="6448429" y="5016995"/>
            <a:ext cx="520064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Observation:</a:t>
            </a:r>
            <a:r>
              <a:rPr lang="en-US" dirty="0"/>
              <a:t> </a:t>
            </a:r>
            <a:r>
              <a:rPr lang="en-US" sz="1600" dirty="0">
                <a:solidFill>
                  <a:srgbClr val="1B2A59"/>
                </a:solidFill>
              </a:rPr>
              <a:t>Age 41–60 has the highest exit rate (39.6%) and contributes the most to total churn. Younger customers (especially under 25) are much more likely to stay</a:t>
            </a:r>
            <a:r>
              <a:rPr lang="en-US" sz="16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70B640-EA82-4E2D-AC7D-DF43CF182511}"/>
              </a:ext>
            </a:extLst>
          </p:cNvPr>
          <p:cNvSpPr txBox="1"/>
          <p:nvPr/>
        </p:nvSpPr>
        <p:spPr>
          <a:xfrm>
            <a:off x="323850" y="133350"/>
            <a:ext cx="4838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B2A59"/>
                </a:solidFill>
              </a:rPr>
              <a:t>Age Impact on Churn</a:t>
            </a:r>
          </a:p>
        </p:txBody>
      </p:sp>
    </p:spTree>
    <p:extLst>
      <p:ext uri="{BB962C8B-B14F-4D97-AF65-F5344CB8AC3E}">
        <p14:creationId xmlns:p14="http://schemas.microsoft.com/office/powerpoint/2010/main" val="118431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>
            <a:extLst>
              <a:ext uri="{FF2B5EF4-FFF2-40B4-BE49-F238E27FC236}">
                <a16:creationId xmlns:a16="http://schemas.microsoft.com/office/drawing/2014/main" id="{65E4C96E-AE35-4CA3-8020-08F20CC87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62" y="1047749"/>
            <a:ext cx="6276975" cy="34480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026C71-FBAB-425C-8149-9D5690163185}"/>
              </a:ext>
            </a:extLst>
          </p:cNvPr>
          <p:cNvSpPr txBox="1"/>
          <p:nvPr/>
        </p:nvSpPr>
        <p:spPr>
          <a:xfrm flipH="1">
            <a:off x="361949" y="161925"/>
            <a:ext cx="7056053" cy="625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Credit Score Impact on Retention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41B5AA-9612-4A12-AAC2-394DE858264F}"/>
              </a:ext>
            </a:extLst>
          </p:cNvPr>
          <p:cNvSpPr txBox="1"/>
          <p:nvPr/>
        </p:nvSpPr>
        <p:spPr>
          <a:xfrm>
            <a:off x="7493876" y="1723697"/>
            <a:ext cx="2238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35190A-01BC-4B07-B60B-645C309ADC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289795"/>
              </p:ext>
            </p:extLst>
          </p:nvPr>
        </p:nvGraphicFramePr>
        <p:xfrm>
          <a:off x="361950" y="4495800"/>
          <a:ext cx="5124450" cy="212585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81113">
                  <a:extLst>
                    <a:ext uri="{9D8B030D-6E8A-4147-A177-3AD203B41FA5}">
                      <a16:colId xmlns:a16="http://schemas.microsoft.com/office/drawing/2014/main" val="3321625756"/>
                    </a:ext>
                  </a:extLst>
                </a:gridCol>
                <a:gridCol w="1217708">
                  <a:extLst>
                    <a:ext uri="{9D8B030D-6E8A-4147-A177-3AD203B41FA5}">
                      <a16:colId xmlns:a16="http://schemas.microsoft.com/office/drawing/2014/main" val="2069356090"/>
                    </a:ext>
                  </a:extLst>
                </a:gridCol>
                <a:gridCol w="1344516">
                  <a:extLst>
                    <a:ext uri="{9D8B030D-6E8A-4147-A177-3AD203B41FA5}">
                      <a16:colId xmlns:a16="http://schemas.microsoft.com/office/drawing/2014/main" val="584333804"/>
                    </a:ext>
                  </a:extLst>
                </a:gridCol>
                <a:gridCol w="1281113">
                  <a:extLst>
                    <a:ext uri="{9D8B030D-6E8A-4147-A177-3AD203B41FA5}">
                      <a16:colId xmlns:a16="http://schemas.microsoft.com/office/drawing/2014/main" val="968695323"/>
                    </a:ext>
                  </a:extLst>
                </a:gridCol>
              </a:tblGrid>
              <a:tr h="646999">
                <a:tc>
                  <a:txBody>
                    <a:bodyPr/>
                    <a:lstStyle/>
                    <a:p>
                      <a:r>
                        <a:rPr lang="en-US" b="1"/>
                        <a:t>Credit Category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Retained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Exited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Churn Rate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0005784"/>
                  </a:ext>
                </a:extLst>
              </a:tr>
              <a:tr h="369714">
                <a:tc>
                  <a:txBody>
                    <a:bodyPr/>
                    <a:lstStyle/>
                    <a:p>
                      <a:r>
                        <a:rPr lang="en-US" dirty="0"/>
                        <a:t>Poor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23.7%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678833"/>
                  </a:ext>
                </a:extLst>
              </a:tr>
              <a:tr h="369714">
                <a:tc>
                  <a:txBody>
                    <a:bodyPr/>
                    <a:lstStyle/>
                    <a:p>
                      <a:r>
                        <a:rPr lang="en-US"/>
                        <a:t>Average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3,369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899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21.1%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1813650"/>
                  </a:ext>
                </a:extLst>
              </a:tr>
              <a:tr h="369714">
                <a:tc>
                  <a:txBody>
                    <a:bodyPr/>
                    <a:lstStyle/>
                    <a:p>
                      <a:r>
                        <a:rPr lang="en-US"/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2,810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19.2%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2029765"/>
                  </a:ext>
                </a:extLst>
              </a:tr>
              <a:tr h="369714">
                <a:tc>
                  <a:txBody>
                    <a:bodyPr/>
                    <a:lstStyle/>
                    <a:p>
                      <a:r>
                        <a:rPr lang="en-US" dirty="0"/>
                        <a:t>Excellent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1,302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625822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97DCEDB-4EB1-4683-8416-6F9CE665D878}"/>
              </a:ext>
            </a:extLst>
          </p:cNvPr>
          <p:cNvSpPr txBox="1"/>
          <p:nvPr/>
        </p:nvSpPr>
        <p:spPr>
          <a:xfrm>
            <a:off x="6343650" y="4695825"/>
            <a:ext cx="5572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Observation</a:t>
            </a:r>
            <a:r>
              <a:rPr lang="en-US" sz="1400" b="1" dirty="0"/>
              <a:t>:</a:t>
            </a:r>
            <a:r>
              <a:rPr lang="en-US" sz="1400" dirty="0"/>
              <a:t> </a:t>
            </a:r>
            <a:r>
              <a:rPr lang="en-US" sz="1600" dirty="0">
                <a:solidFill>
                  <a:srgbClr val="1B2A59"/>
                </a:solidFill>
              </a:rPr>
              <a:t>Average credit segment loses most customers—899 exits (44% of total churn). Poor credit customers show highest churn rate at 23.7%.</a:t>
            </a:r>
          </a:p>
        </p:txBody>
      </p:sp>
    </p:spTree>
    <p:extLst>
      <p:ext uri="{BB962C8B-B14F-4D97-AF65-F5344CB8AC3E}">
        <p14:creationId xmlns:p14="http://schemas.microsoft.com/office/powerpoint/2010/main" val="3568372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B6ABB914-D0D8-4ADE-B643-AE1A7A76B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4100" y="572425"/>
            <a:ext cx="5490715" cy="3781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D5C917D8-C8EB-45E4-9222-C1C35D98C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45" y="520352"/>
            <a:ext cx="5829299" cy="3969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7CB000-FC80-4B8D-A7EF-2B5F3829C905}"/>
              </a:ext>
            </a:extLst>
          </p:cNvPr>
          <p:cNvSpPr txBox="1"/>
          <p:nvPr/>
        </p:nvSpPr>
        <p:spPr>
          <a:xfrm>
            <a:off x="447677" y="4914900"/>
            <a:ext cx="5648323" cy="367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Germany:</a:t>
            </a: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</a:t>
            </a:r>
            <a:r>
              <a:rPr lang="en-US" sz="1600" dirty="0">
                <a:solidFill>
                  <a:srgbClr val="1B2A59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32.4% churn rate—highest risk market</a:t>
            </a:r>
            <a:endParaRPr lang="en-US" sz="1600" dirty="0">
              <a:solidFill>
                <a:srgbClr val="1B2A59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53476F-0366-41DF-96B3-3D227282A457}"/>
              </a:ext>
            </a:extLst>
          </p:cNvPr>
          <p:cNvSpPr txBox="1"/>
          <p:nvPr/>
        </p:nvSpPr>
        <p:spPr>
          <a:xfrm>
            <a:off x="447677" y="4382947"/>
            <a:ext cx="3842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Geography Drives Risk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1C753F-CE25-494B-A2B3-7EDA17187768}"/>
              </a:ext>
            </a:extLst>
          </p:cNvPr>
          <p:cNvSpPr txBox="1"/>
          <p:nvPr/>
        </p:nvSpPr>
        <p:spPr>
          <a:xfrm>
            <a:off x="533400" y="5275834"/>
            <a:ext cx="3257549" cy="374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Spain:</a:t>
            </a: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</a:t>
            </a:r>
            <a:r>
              <a:rPr lang="en-US" sz="1600" dirty="0">
                <a:solidFill>
                  <a:srgbClr val="1B2A59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16.7% churn rate</a:t>
            </a:r>
            <a:endParaRPr lang="en-US" sz="1600" dirty="0">
              <a:solidFill>
                <a:srgbClr val="1B2A59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97AC1A-11C9-48A0-AE48-3CB60CCB3904}"/>
              </a:ext>
            </a:extLst>
          </p:cNvPr>
          <p:cNvSpPr txBox="1"/>
          <p:nvPr/>
        </p:nvSpPr>
        <p:spPr>
          <a:xfrm flipH="1">
            <a:off x="533399" y="5707116"/>
            <a:ext cx="439102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France:</a:t>
            </a: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</a:t>
            </a:r>
            <a:r>
              <a:rPr lang="en-US" sz="1600" dirty="0">
                <a:solidFill>
                  <a:srgbClr val="1B2A59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16.1% churn rate—lowest but still significant</a:t>
            </a:r>
            <a:endParaRPr lang="en-US" sz="1600" dirty="0">
              <a:solidFill>
                <a:srgbClr val="1B2A59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B43C1B-CF3F-47A7-A0A2-2DFE619DCA34}"/>
              </a:ext>
            </a:extLst>
          </p:cNvPr>
          <p:cNvSpPr txBox="1"/>
          <p:nvPr/>
        </p:nvSpPr>
        <p:spPr>
          <a:xfrm>
            <a:off x="7038974" y="5427474"/>
            <a:ext cx="4733929" cy="367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Inactive Members Retained:</a:t>
            </a: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</a:t>
            </a:r>
            <a:r>
              <a:rPr lang="en-US" sz="1600" dirty="0">
                <a:solidFill>
                  <a:srgbClr val="1B2A59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Only 1,302 customers</a:t>
            </a:r>
            <a:endParaRPr lang="en-US" sz="1600" dirty="0">
              <a:solidFill>
                <a:srgbClr val="1B2A59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601262-CF3D-4E92-A16B-48368AB6335F}"/>
              </a:ext>
            </a:extLst>
          </p:cNvPr>
          <p:cNvSpPr txBox="1"/>
          <p:nvPr/>
        </p:nvSpPr>
        <p:spPr>
          <a:xfrm rot="10800000" flipV="1">
            <a:off x="7505700" y="4914900"/>
            <a:ext cx="3800476" cy="235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9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B2A5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3,547 Stay (0)vs only 462 Exited(1)</a:t>
            </a:r>
            <a:endParaRPr lang="en-US" sz="1400" dirty="0">
              <a:solidFill>
                <a:srgbClr val="1B2A59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DE5660-992C-46D4-A520-20106507DB31}"/>
              </a:ext>
            </a:extLst>
          </p:cNvPr>
          <p:cNvSpPr txBox="1"/>
          <p:nvPr/>
        </p:nvSpPr>
        <p:spPr>
          <a:xfrm>
            <a:off x="7505700" y="5272024"/>
            <a:ext cx="2451091" cy="235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ts val="9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B2A5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 13% churn rate</a:t>
            </a:r>
            <a:endParaRPr lang="en-US" sz="1400" dirty="0">
              <a:solidFill>
                <a:srgbClr val="1B2A59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14E471-B1AA-4C99-91FB-C1472784D1E6}"/>
              </a:ext>
            </a:extLst>
          </p:cNvPr>
          <p:cNvSpPr txBox="1"/>
          <p:nvPr/>
        </p:nvSpPr>
        <p:spPr>
          <a:xfrm>
            <a:off x="7191375" y="4598281"/>
            <a:ext cx="2534601" cy="249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Active Members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014357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>
            <a:extLst>
              <a:ext uri="{FF2B5EF4-FFF2-40B4-BE49-F238E27FC236}">
                <a16:creationId xmlns:a16="http://schemas.microsoft.com/office/drawing/2014/main" id="{F40D91B2-A832-48AB-99B8-DD5EA5147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992" y="440942"/>
            <a:ext cx="5258458" cy="3511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7E84B77C-BE95-43B9-B964-C65C2AFB3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6975" y="228695"/>
            <a:ext cx="5443699" cy="3724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31EA53-3711-4F43-8B3E-C611B5EA3E32}"/>
              </a:ext>
            </a:extLst>
          </p:cNvPr>
          <p:cNvSpPr txBox="1"/>
          <p:nvPr/>
        </p:nvSpPr>
        <p:spPr>
          <a:xfrm flipH="1">
            <a:off x="6970394" y="5141355"/>
            <a:ext cx="51692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b="0" i="0" dirty="0">
              <a:effectLst/>
              <a:latin typeface="fkGroteskNeue"/>
            </a:endParaRP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r>
              <a:rPr lang="en-US" sz="1400" b="1" dirty="0">
                <a:solidFill>
                  <a:srgbClr val="333333"/>
                </a:solidFill>
                <a:latin typeface="fkGroteskNeue"/>
              </a:rPr>
              <a:t>4Products</a:t>
            </a:r>
            <a:r>
              <a:rPr lang="en-US" dirty="0">
                <a:latin typeface="fkGroteskNeue"/>
              </a:rPr>
              <a:t> : 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fkGroteskNeue"/>
              </a:rPr>
              <a:t>100% exit (46 vs  0)—total failure</a:t>
            </a:r>
            <a:r>
              <a:rPr lang="en-US" sz="1400" b="0" i="0" dirty="0">
                <a:effectLst/>
                <a:latin typeface="fkGroteskNeue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BEE308-51A1-4F2E-8A26-36755DC8069F}"/>
              </a:ext>
            </a:extLst>
          </p:cNvPr>
          <p:cNvSpPr txBox="1"/>
          <p:nvPr/>
        </p:nvSpPr>
        <p:spPr>
          <a:xfrm>
            <a:off x="514350" y="4652468"/>
            <a:ext cx="4533900" cy="254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1150"/>
              </a:lnSpc>
              <a:buSzPct val="100000"/>
              <a:buNone/>
            </a:pPr>
            <a:r>
              <a:rPr lang="en-US" sz="1400" b="1" dirty="0">
                <a:solidFill>
                  <a:srgbClr val="1B2A5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Years 0-2:</a:t>
            </a:r>
            <a:r>
              <a:rPr lang="en-US" sz="1400" dirty="0">
                <a:solidFill>
                  <a:srgbClr val="1B2A5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77-80%  exit rate during o boarding  phase</a:t>
            </a:r>
            <a:endParaRPr lang="en-US" sz="1400" dirty="0">
              <a:solidFill>
                <a:srgbClr val="1B2A59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2EB195-4E82-49D3-9753-D39329075FC7}"/>
              </a:ext>
            </a:extLst>
          </p:cNvPr>
          <p:cNvSpPr txBox="1"/>
          <p:nvPr/>
        </p:nvSpPr>
        <p:spPr>
          <a:xfrm>
            <a:off x="514350" y="4912346"/>
            <a:ext cx="5476875" cy="408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1150"/>
              </a:lnSpc>
              <a:buSzPct val="100000"/>
              <a:buNone/>
            </a:pPr>
            <a:r>
              <a:rPr lang="en-US" sz="1400" b="1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Years 3-7:</a:t>
            </a: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Peak churn at 83% (year 7) signals mid-relationship challenges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9B8662-BE35-4DCB-ABF0-CDC8EB5EC796}"/>
              </a:ext>
            </a:extLst>
          </p:cNvPr>
          <p:cNvSpPr txBox="1"/>
          <p:nvPr/>
        </p:nvSpPr>
        <p:spPr>
          <a:xfrm>
            <a:off x="514350" y="5320856"/>
            <a:ext cx="5191125" cy="408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1150"/>
              </a:lnSpc>
              <a:buSzPct val="100000"/>
              <a:buNone/>
            </a:pPr>
            <a:r>
              <a:rPr lang="en-US" sz="1400" b="1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Years 8-10:</a:t>
            </a: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Sustained 75-79% attrition contradicts loyalty expectations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44DD2F-7B03-4E8D-915D-FE1E48E503A5}"/>
              </a:ext>
            </a:extLst>
          </p:cNvPr>
          <p:cNvSpPr txBox="1"/>
          <p:nvPr/>
        </p:nvSpPr>
        <p:spPr>
          <a:xfrm flipH="1">
            <a:off x="514350" y="4164213"/>
            <a:ext cx="2819400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b="1" dirty="0"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Tenure Risk Zones</a:t>
            </a:r>
            <a:endParaRPr lang="en-US" sz="2000" b="1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63F6C673-8C5E-47A1-9554-0D8CAE70911C}"/>
              </a:ext>
            </a:extLst>
          </p:cNvPr>
          <p:cNvSpPr/>
          <p:nvPr/>
        </p:nvSpPr>
        <p:spPr>
          <a:xfrm rot="10800000" flipV="1">
            <a:off x="6924677" y="3989529"/>
            <a:ext cx="4352923" cy="103752"/>
          </a:xfrm>
          <a:prstGeom prst="roundRect">
            <a:avLst>
              <a:gd name="adj" fmla="val 33628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B27BCE-F774-41A7-A3D0-6D134D784486}"/>
              </a:ext>
            </a:extLst>
          </p:cNvPr>
          <p:cNvSpPr txBox="1"/>
          <p:nvPr/>
        </p:nvSpPr>
        <p:spPr>
          <a:xfrm>
            <a:off x="11277600" y="3968568"/>
            <a:ext cx="1038225" cy="256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2000" b="1" dirty="0">
                <a:solidFill>
                  <a:srgbClr val="1B2A59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46%</a:t>
            </a:r>
            <a:endParaRPr lang="en-US" sz="2000" b="1" dirty="0">
              <a:solidFill>
                <a:srgbClr val="1B2A59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508D4D-385B-4D89-B2B5-89A27F128867}"/>
              </a:ext>
            </a:extLst>
          </p:cNvPr>
          <p:cNvSpPr txBox="1"/>
          <p:nvPr/>
        </p:nvSpPr>
        <p:spPr>
          <a:xfrm>
            <a:off x="6981825" y="4215721"/>
            <a:ext cx="3305175" cy="254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fkGroteskNeue"/>
                <a:ea typeface="Roboto" panose="02000000000000000000" pitchFamily="34" charset="-122"/>
                <a:cs typeface="Roboto" panose="02000000000000000000" pitchFamily="34" charset="-120"/>
              </a:rPr>
              <a:t>1</a:t>
            </a:r>
            <a:r>
              <a:rPr lang="en-US" sz="14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fkGroteskNeue"/>
              </a:rPr>
              <a:t>Products : </a:t>
            </a:r>
            <a:r>
              <a:rPr lang="en-US" sz="1400" dirty="0">
                <a:solidFill>
                  <a:srgbClr val="1B2A5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Balanced retention</a:t>
            </a:r>
            <a:endParaRPr lang="en-US" sz="1400" dirty="0">
              <a:solidFill>
                <a:srgbClr val="1B2A59"/>
              </a:solidFill>
            </a:endParaRP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C50BA939-0C9A-4949-AC3C-8DB849B63A48}"/>
              </a:ext>
            </a:extLst>
          </p:cNvPr>
          <p:cNvSpPr/>
          <p:nvPr/>
        </p:nvSpPr>
        <p:spPr>
          <a:xfrm rot="10800000" flipV="1">
            <a:off x="6937416" y="4543657"/>
            <a:ext cx="4452876" cy="66544"/>
          </a:xfrm>
          <a:prstGeom prst="roundRect">
            <a:avLst>
              <a:gd name="adj" fmla="val 33628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863890DE-7296-4437-81D0-362220C954F3}"/>
              </a:ext>
            </a:extLst>
          </p:cNvPr>
          <p:cNvSpPr/>
          <p:nvPr/>
        </p:nvSpPr>
        <p:spPr>
          <a:xfrm>
            <a:off x="11426785" y="4543657"/>
            <a:ext cx="498515" cy="2274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50"/>
              </a:lnSpc>
              <a:buNone/>
            </a:pPr>
            <a:r>
              <a:rPr lang="en-US" sz="2000" b="1" dirty="0">
                <a:solidFill>
                  <a:srgbClr val="1B2A59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80%</a:t>
            </a:r>
            <a:endParaRPr lang="en-US" sz="2000" b="1" dirty="0">
              <a:solidFill>
                <a:srgbClr val="1B2A59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CD617A-8185-4D28-9EA1-96D54B0B9EBE}"/>
              </a:ext>
            </a:extLst>
          </p:cNvPr>
          <p:cNvSpPr txBox="1"/>
          <p:nvPr/>
        </p:nvSpPr>
        <p:spPr>
          <a:xfrm>
            <a:off x="6924675" y="4724401"/>
            <a:ext cx="489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fkGroteskNeue"/>
              </a:rPr>
              <a:t>2 Products</a:t>
            </a:r>
            <a:r>
              <a:rPr lang="en-US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fkGroteskNeue"/>
              </a:rPr>
              <a:t>:</a:t>
            </a:r>
            <a:r>
              <a:rPr lang="en-US" b="0" i="0" dirty="0">
                <a:effectLst/>
                <a:latin typeface="fkGroteskNeue"/>
              </a:rPr>
              <a:t> </a:t>
            </a:r>
            <a:r>
              <a:rPr lang="en-US" sz="1400" b="0" i="0" dirty="0">
                <a:solidFill>
                  <a:srgbClr val="1B2A59"/>
                </a:solidFill>
                <a:effectLst/>
                <a:latin typeface="fkGroteskNeue"/>
              </a:rPr>
              <a:t>Exit rate jump to 80% (1,409 exited(1) vs 348 stay(0).</a:t>
            </a:r>
            <a:endParaRPr lang="en-US" sz="1400" dirty="0">
              <a:solidFill>
                <a:srgbClr val="1B2A59"/>
              </a:solidFill>
            </a:endParaRPr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02D752E1-C965-44E1-8C57-0691C6A28F0E}"/>
              </a:ext>
            </a:extLst>
          </p:cNvPr>
          <p:cNvSpPr/>
          <p:nvPr/>
        </p:nvSpPr>
        <p:spPr>
          <a:xfrm rot="10800000" flipV="1">
            <a:off x="6924676" y="5281214"/>
            <a:ext cx="4502109" cy="98736"/>
          </a:xfrm>
          <a:prstGeom prst="roundRect">
            <a:avLst>
              <a:gd name="adj" fmla="val 33628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A1AAE2-8B83-4FD4-AA02-450BD2DA51FC}"/>
              </a:ext>
            </a:extLst>
          </p:cNvPr>
          <p:cNvSpPr txBox="1"/>
          <p:nvPr/>
        </p:nvSpPr>
        <p:spPr>
          <a:xfrm>
            <a:off x="11426785" y="5141355"/>
            <a:ext cx="700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B2A59"/>
                </a:solidFill>
              </a:rPr>
              <a:t>79%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79BB86-2AC4-4CB7-AA16-F5B170ACDE76}"/>
              </a:ext>
            </a:extLst>
          </p:cNvPr>
          <p:cNvSpPr txBox="1"/>
          <p:nvPr/>
        </p:nvSpPr>
        <p:spPr>
          <a:xfrm>
            <a:off x="6981825" y="5499959"/>
            <a:ext cx="3752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i="0" dirty="0">
                <a:solidFill>
                  <a:srgbClr val="333333"/>
                </a:solidFill>
                <a:effectLst/>
                <a:latin typeface="fkGroteskNeue"/>
              </a:rPr>
              <a:t>3 Products</a:t>
            </a:r>
            <a:r>
              <a:rPr lang="en-US" sz="1400" b="0" i="0" dirty="0">
                <a:effectLst/>
                <a:latin typeface="fkGroteskNeue"/>
              </a:rPr>
              <a:t>: </a:t>
            </a:r>
            <a:r>
              <a:rPr lang="en-US" sz="1400" b="0" i="0" dirty="0">
                <a:solidFill>
                  <a:srgbClr val="1B2A59"/>
                </a:solidFill>
                <a:effectLst/>
                <a:latin typeface="fkGroteskNeue"/>
              </a:rPr>
              <a:t>79% exit (220 vs 60).</a:t>
            </a:r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7E72D494-8F3A-4CC5-B6A7-5EC7ED73A594}"/>
              </a:ext>
            </a:extLst>
          </p:cNvPr>
          <p:cNvSpPr/>
          <p:nvPr/>
        </p:nvSpPr>
        <p:spPr>
          <a:xfrm rot="10800000" flipV="1">
            <a:off x="6937416" y="5790709"/>
            <a:ext cx="4502109" cy="87674"/>
          </a:xfrm>
          <a:prstGeom prst="roundRect">
            <a:avLst>
              <a:gd name="adj" fmla="val 33628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2941E1-7730-41CB-A693-B58A8389956E}"/>
              </a:ext>
            </a:extLst>
          </p:cNvPr>
          <p:cNvSpPr txBox="1"/>
          <p:nvPr/>
        </p:nvSpPr>
        <p:spPr>
          <a:xfrm>
            <a:off x="11439526" y="5676900"/>
            <a:ext cx="700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B2A59"/>
                </a:solidFill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3112628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EF0D2BA5-2F36-4B8C-94A1-78786DFBA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7" y="949879"/>
            <a:ext cx="7372350" cy="3148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59A3284-A41E-4002-AB88-A2A5C03BD17C}"/>
              </a:ext>
            </a:extLst>
          </p:cNvPr>
          <p:cNvSpPr txBox="1"/>
          <p:nvPr/>
        </p:nvSpPr>
        <p:spPr>
          <a:xfrm flipH="1">
            <a:off x="838198" y="3990975"/>
            <a:ext cx="14287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1B2A59"/>
                </a:solidFill>
              </a:rPr>
              <a:t>44.8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AF3AD1-291B-4C87-AA60-6D9BEB054B8E}"/>
              </a:ext>
            </a:extLst>
          </p:cNvPr>
          <p:cNvSpPr txBox="1"/>
          <p:nvPr/>
        </p:nvSpPr>
        <p:spPr>
          <a:xfrm flipH="1">
            <a:off x="104774" y="4698861"/>
            <a:ext cx="3533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Average Age of Churners</a:t>
            </a:r>
          </a:p>
          <a:p>
            <a:r>
              <a:rPr lang="en-US" dirty="0">
                <a:solidFill>
                  <a:srgbClr val="1E2A38"/>
                </a:solidFill>
              </a:rPr>
              <a:t>vs 37.4 years for retained customers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164CB6-FC91-41C0-9E8D-FE01CC70ABED}"/>
              </a:ext>
            </a:extLst>
          </p:cNvPr>
          <p:cNvSpPr txBox="1"/>
          <p:nvPr/>
        </p:nvSpPr>
        <p:spPr>
          <a:xfrm flipH="1">
            <a:off x="3876676" y="3994011"/>
            <a:ext cx="22193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1B2A59"/>
                </a:solidFill>
              </a:rPr>
              <a:t>£91K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AD1BBD-3E33-4D82-888D-70365445D6A8}"/>
              </a:ext>
            </a:extLst>
          </p:cNvPr>
          <p:cNvSpPr txBox="1"/>
          <p:nvPr/>
        </p:nvSpPr>
        <p:spPr>
          <a:xfrm>
            <a:off x="3876676" y="4781550"/>
            <a:ext cx="35337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Average Balance of Churners</a:t>
            </a:r>
          </a:p>
          <a:p>
            <a:r>
              <a:rPr lang="en-US" dirty="0">
                <a:solidFill>
                  <a:srgbClr val="1E2A38"/>
                </a:solidFill>
              </a:rPr>
              <a:t>vs £72,745 for retained customer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044540-79C1-4D0D-99FA-07B71F6AD1CD}"/>
              </a:ext>
            </a:extLst>
          </p:cNvPr>
          <p:cNvSpPr txBox="1"/>
          <p:nvPr/>
        </p:nvSpPr>
        <p:spPr>
          <a:xfrm flipH="1">
            <a:off x="8001000" y="3990975"/>
            <a:ext cx="1752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b="1" dirty="0">
                <a:solidFill>
                  <a:srgbClr val="1B2A59"/>
                </a:solidFill>
              </a:rPr>
              <a:t>£18K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CB98C8-2248-4CEF-BF29-074F996212A9}"/>
              </a:ext>
            </a:extLst>
          </p:cNvPr>
          <p:cNvSpPr txBox="1"/>
          <p:nvPr/>
        </p:nvSpPr>
        <p:spPr>
          <a:xfrm>
            <a:off x="7924800" y="4748717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Balance Loss Per Churned Customer</a:t>
            </a:r>
          </a:p>
          <a:p>
            <a:r>
              <a:rPr lang="en-US" dirty="0">
                <a:solidFill>
                  <a:srgbClr val="1E2A38"/>
                </a:solidFill>
              </a:rPr>
              <a:t>High-value client attrition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10A44B-9CD6-4403-80C9-7A7E22C0DC58}"/>
              </a:ext>
            </a:extLst>
          </p:cNvPr>
          <p:cNvSpPr txBox="1"/>
          <p:nvPr/>
        </p:nvSpPr>
        <p:spPr>
          <a:xfrm>
            <a:off x="104775" y="5995213"/>
            <a:ext cx="11753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Actionable Insight:</a:t>
            </a:r>
            <a:r>
              <a:rPr lang="en-US" dirty="0"/>
              <a:t> </a:t>
            </a:r>
            <a:r>
              <a:rPr lang="en-US" dirty="0">
                <a:solidFill>
                  <a:srgbClr val="1E2A38"/>
                </a:solidFill>
              </a:rPr>
              <a:t>Prioritize retention campaigns for 40+ customers with &gt;£80k balances via premium perks or personalized outreach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D39AD0-90F9-4BB2-A234-A2FA988E46A7}"/>
              </a:ext>
            </a:extLst>
          </p:cNvPr>
          <p:cNvSpPr txBox="1"/>
          <p:nvPr/>
        </p:nvSpPr>
        <p:spPr>
          <a:xfrm>
            <a:off x="838198" y="396614"/>
            <a:ext cx="30384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Financial Impact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34513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1DA867CF-4D83-44BA-BD75-1A9074191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4" y="579521"/>
            <a:ext cx="10715625" cy="4915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hape 1">
            <a:extLst>
              <a:ext uri="{FF2B5EF4-FFF2-40B4-BE49-F238E27FC236}">
                <a16:creationId xmlns:a16="http://schemas.microsoft.com/office/drawing/2014/main" id="{995C131E-C8F6-440F-B2F4-ED3D86909AE7}"/>
              </a:ext>
            </a:extLst>
          </p:cNvPr>
          <p:cNvSpPr/>
          <p:nvPr/>
        </p:nvSpPr>
        <p:spPr>
          <a:xfrm>
            <a:off x="513715" y="5570191"/>
            <a:ext cx="11164570" cy="923330"/>
          </a:xfrm>
          <a:prstGeom prst="roundRect">
            <a:avLst>
              <a:gd name="adj" fmla="val 5769"/>
            </a:avLst>
          </a:prstGeom>
          <a:solidFill>
            <a:srgbClr val="95CCDA"/>
          </a:solidFill>
          <a:ln w="7620">
            <a:solidFill>
              <a:srgbClr val="7BB2C0"/>
            </a:solidFill>
            <a:prstDash val="solid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1FB949-C1A4-4145-9125-9C68A0890CA6}"/>
              </a:ext>
            </a:extLst>
          </p:cNvPr>
          <p:cNvSpPr txBox="1"/>
          <p:nvPr/>
        </p:nvSpPr>
        <p:spPr>
          <a:xfrm rot="10800000" flipH="1" flipV="1">
            <a:off x="695325" y="5720417"/>
            <a:ext cx="10029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Correlation Analysis: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1B2A59"/>
                </a:solidFill>
              </a:rPr>
              <a:t>Age, Number of Products, and Balance show clear positive correlation with churn. Active members have lower churn rates. Credit Score, Salary, and Tenure show very weak correlation with churn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0296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16D643-5351-4EEC-BA3E-C0ADFD945EEC}"/>
              </a:ext>
            </a:extLst>
          </p:cNvPr>
          <p:cNvSpPr txBox="1"/>
          <p:nvPr/>
        </p:nvSpPr>
        <p:spPr>
          <a:xfrm flipH="1">
            <a:off x="0" y="95250"/>
            <a:ext cx="3924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1B2A59"/>
                </a:solidFill>
              </a:rPr>
              <a:t>Conclusion</a:t>
            </a:r>
            <a:r>
              <a:rPr lang="en-US" sz="3200" dirty="0"/>
              <a:t> :</a:t>
            </a:r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188FECFE-912E-40E9-9D4D-EF6E1476A213}"/>
              </a:ext>
            </a:extLst>
          </p:cNvPr>
          <p:cNvSpPr/>
          <p:nvPr/>
        </p:nvSpPr>
        <p:spPr>
          <a:xfrm>
            <a:off x="958096" y="804439"/>
            <a:ext cx="7608808" cy="1217295"/>
          </a:xfrm>
          <a:prstGeom prst="roundRect">
            <a:avLst>
              <a:gd name="adj" fmla="val 9222"/>
            </a:avLst>
          </a:prstGeom>
          <a:solidFill>
            <a:srgbClr val="CEE6FD"/>
          </a:solidFill>
        </p:spPr>
      </p:sp>
      <p:pic>
        <p:nvPicPr>
          <p:cNvPr id="14" name="Image 1">
            <a:extLst>
              <a:ext uri="{FF2B5EF4-FFF2-40B4-BE49-F238E27FC236}">
                <a16:creationId xmlns:a16="http://schemas.microsoft.com/office/drawing/2014/main" id="{06A95E3A-C4AF-42EB-93FD-1511B782F0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3346" y="877836"/>
            <a:ext cx="428625" cy="33183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B3B30A0-095B-4124-A900-639FD1B8CEBD}"/>
              </a:ext>
            </a:extLst>
          </p:cNvPr>
          <p:cNvSpPr txBox="1"/>
          <p:nvPr/>
        </p:nvSpPr>
        <p:spPr>
          <a:xfrm>
            <a:off x="1481971" y="937296"/>
            <a:ext cx="1773556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800" b="1" dirty="0"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Findings</a:t>
            </a:r>
            <a:endParaRPr lang="en-US" sz="18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83A79F-7AAB-4E33-93B9-A74ACDF68117}"/>
              </a:ext>
            </a:extLst>
          </p:cNvPr>
          <p:cNvSpPr txBox="1"/>
          <p:nvPr/>
        </p:nvSpPr>
        <p:spPr>
          <a:xfrm>
            <a:off x="1053345" y="1399354"/>
            <a:ext cx="7281029" cy="527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800" dirty="0">
                <a:solidFill>
                  <a:srgbClr val="1B2A59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Customer churn is mainly influenced by demographics, account activity, tenure, and credit profile</a:t>
            </a:r>
            <a:endParaRPr lang="en-US" sz="1800" dirty="0">
              <a:solidFill>
                <a:srgbClr val="1B2A59"/>
              </a:solidFill>
            </a:endParaRPr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BD3E066E-464C-4323-8E29-0551E4CFEF7E}"/>
              </a:ext>
            </a:extLst>
          </p:cNvPr>
          <p:cNvSpPr/>
          <p:nvPr/>
        </p:nvSpPr>
        <p:spPr>
          <a:xfrm>
            <a:off x="958096" y="2154591"/>
            <a:ext cx="7585829" cy="1217295"/>
          </a:xfrm>
          <a:prstGeom prst="roundRect">
            <a:avLst>
              <a:gd name="adj" fmla="val 9222"/>
            </a:avLst>
          </a:prstGeom>
          <a:solidFill>
            <a:srgbClr val="CEE6FD"/>
          </a:solidFill>
        </p:spPr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CDF9603D-09C7-4E37-8FD1-D52EBAD1BB9E}"/>
              </a:ext>
            </a:extLst>
          </p:cNvPr>
          <p:cNvSpPr/>
          <p:nvPr/>
        </p:nvSpPr>
        <p:spPr>
          <a:xfrm>
            <a:off x="990357" y="4815873"/>
            <a:ext cx="7608808" cy="1217295"/>
          </a:xfrm>
          <a:prstGeom prst="roundRect">
            <a:avLst>
              <a:gd name="adj" fmla="val 9222"/>
            </a:avLst>
          </a:prstGeom>
          <a:solidFill>
            <a:srgbClr val="CEE6FD"/>
          </a:solidFill>
        </p:spPr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2C4C4375-0AE7-492C-9385-B87929E0B0A9}"/>
              </a:ext>
            </a:extLst>
          </p:cNvPr>
          <p:cNvSpPr/>
          <p:nvPr/>
        </p:nvSpPr>
        <p:spPr>
          <a:xfrm>
            <a:off x="915172" y="3547395"/>
            <a:ext cx="7608808" cy="1217295"/>
          </a:xfrm>
          <a:prstGeom prst="roundRect">
            <a:avLst>
              <a:gd name="adj" fmla="val 9222"/>
            </a:avLst>
          </a:prstGeom>
          <a:solidFill>
            <a:srgbClr val="CEE6FD"/>
          </a:solidFill>
        </p:spPr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3EEA8C79-3744-4902-9AA6-DEBFCCB7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3346" y="2154591"/>
            <a:ext cx="527804" cy="52780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B5DAB40-621F-4E39-8EB5-9CD1177E05B3}"/>
              </a:ext>
            </a:extLst>
          </p:cNvPr>
          <p:cNvSpPr txBox="1"/>
          <p:nvPr/>
        </p:nvSpPr>
        <p:spPr>
          <a:xfrm>
            <a:off x="1581150" y="2215623"/>
            <a:ext cx="1819275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800" b="1" dirty="0"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Targeted Actions</a:t>
            </a:r>
            <a:endParaRPr lang="en-US" sz="18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118760-A692-4946-A1A1-6B4C4E0C7B2A}"/>
              </a:ext>
            </a:extLst>
          </p:cNvPr>
          <p:cNvSpPr txBox="1"/>
          <p:nvPr/>
        </p:nvSpPr>
        <p:spPr>
          <a:xfrm flipH="1">
            <a:off x="1076204" y="2672403"/>
            <a:ext cx="7286745" cy="512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Personalized offers loyalty programs and improved engagement for high-risk segments</a:t>
            </a:r>
            <a:endParaRPr lang="en-US" sz="1800" dirty="0"/>
          </a:p>
        </p:txBody>
      </p:sp>
      <p:pic>
        <p:nvPicPr>
          <p:cNvPr id="26" name="Image 3">
            <a:extLst>
              <a:ext uri="{FF2B5EF4-FFF2-40B4-BE49-F238E27FC236}">
                <a16:creationId xmlns:a16="http://schemas.microsoft.com/office/drawing/2014/main" id="{6A52703C-6F69-4BDB-95CA-F02BF9DAE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076202" y="3602429"/>
            <a:ext cx="636389" cy="48442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4B14D04-F6C8-4481-ADFA-E2FEE42B9DB5}"/>
              </a:ext>
            </a:extLst>
          </p:cNvPr>
          <p:cNvSpPr txBox="1"/>
          <p:nvPr/>
        </p:nvSpPr>
        <p:spPr>
          <a:xfrm flipH="1">
            <a:off x="1735448" y="3702535"/>
            <a:ext cx="2779400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800" b="1" dirty="0"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Future Improvements</a:t>
            </a:r>
            <a:endParaRPr lang="en-US" sz="18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FF35C2-0E7F-4F90-801B-B4FE0822F9A6}"/>
              </a:ext>
            </a:extLst>
          </p:cNvPr>
          <p:cNvSpPr txBox="1"/>
          <p:nvPr/>
        </p:nvSpPr>
        <p:spPr>
          <a:xfrm flipH="1">
            <a:off x="1076202" y="4155059"/>
            <a:ext cx="7467722" cy="512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80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Using more data and advanced models can further improve churn prediction and management</a:t>
            </a:r>
            <a:endParaRPr lang="en-US" sz="1800" dirty="0"/>
          </a:p>
        </p:txBody>
      </p:sp>
      <p:pic>
        <p:nvPicPr>
          <p:cNvPr id="29" name="Image 4">
            <a:extLst>
              <a:ext uri="{FF2B5EF4-FFF2-40B4-BE49-F238E27FC236}">
                <a16:creationId xmlns:a16="http://schemas.microsoft.com/office/drawing/2014/main" id="{A0FA0958-798B-4468-90F5-B587557CE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9066" y="4819724"/>
            <a:ext cx="725809" cy="60596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6F7B8D1-4AFE-42EC-833E-107AB7599A6A}"/>
              </a:ext>
            </a:extLst>
          </p:cNvPr>
          <p:cNvSpPr txBox="1"/>
          <p:nvPr/>
        </p:nvSpPr>
        <p:spPr>
          <a:xfrm>
            <a:off x="2105023" y="4980414"/>
            <a:ext cx="2266952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Business Impact</a:t>
            </a:r>
            <a:endParaRPr 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2C52F2-51DC-429F-BCB4-C1E4C0AE4E07}"/>
              </a:ext>
            </a:extLst>
          </p:cNvPr>
          <p:cNvSpPr txBox="1"/>
          <p:nvPr/>
        </p:nvSpPr>
        <p:spPr>
          <a:xfrm>
            <a:off x="1053345" y="5476875"/>
            <a:ext cx="7545819" cy="512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Increase customer loyalty and overall profitability through data-driven retention strategies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95441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5A6679C-2CFD-44F1-9DD3-D44C5E3D49B9}"/>
              </a:ext>
            </a:extLst>
          </p:cNvPr>
          <p:cNvSpPr txBox="1"/>
          <p:nvPr/>
        </p:nvSpPr>
        <p:spPr>
          <a:xfrm>
            <a:off x="1504949" y="2000250"/>
            <a:ext cx="810577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solidFill>
                  <a:srgbClr val="1B2A59"/>
                </a:solidFill>
                <a:latin typeface="Georgia" panose="02040502050405020303" pitchFamily="18" charset="0"/>
              </a:rPr>
              <a:t>Thank you!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2B49EE-AF32-493F-8FE4-2031026CF70E}"/>
              </a:ext>
            </a:extLst>
          </p:cNvPr>
          <p:cNvSpPr txBox="1"/>
          <p:nvPr/>
        </p:nvSpPr>
        <p:spPr>
          <a:xfrm flipH="1">
            <a:off x="3552824" y="3695700"/>
            <a:ext cx="54006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555555"/>
                </a:solidFill>
              </a:rPr>
              <a:t>“The Ultimate Guide to a Powerful closing”</a:t>
            </a:r>
          </a:p>
        </p:txBody>
      </p:sp>
      <p:pic>
        <p:nvPicPr>
          <p:cNvPr id="11" name="Graphic 10" descr="Handshake with solid fill">
            <a:extLst>
              <a:ext uri="{FF2B5EF4-FFF2-40B4-BE49-F238E27FC236}">
                <a16:creationId xmlns:a16="http://schemas.microsoft.com/office/drawing/2014/main" id="{687613C1-953E-4BEB-B08A-4C6A4CF82E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3424" y="2099637"/>
            <a:ext cx="1200150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4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2007</TotalTime>
  <Words>835</Words>
  <Application>Microsoft Office PowerPoint</Application>
  <PresentationFormat>Widescreen</PresentationFormat>
  <Paragraphs>149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6" baseType="lpstr">
      <vt:lpstr>Arial</vt:lpstr>
      <vt:lpstr>Calibri</vt:lpstr>
      <vt:lpstr>Calibri Light</vt:lpstr>
      <vt:lpstr>fkGroteskNeue</vt:lpstr>
      <vt:lpstr>Georgia</vt:lpstr>
      <vt:lpstr>Host Grotesk Medium</vt:lpstr>
      <vt:lpstr>Instrument Sans Medium</vt:lpstr>
      <vt:lpstr>Instrument Sans Semi Bold</vt:lpstr>
      <vt:lpstr>Inter</vt:lpstr>
      <vt:lpstr>Petrona Bold</vt:lpstr>
      <vt:lpstr>Roboto</vt:lpstr>
      <vt:lpstr>Wingdings</vt:lpstr>
      <vt:lpstr>Office Theme</vt:lpstr>
      <vt:lpstr>PowerPoint Presentation</vt:lpstr>
      <vt:lpstr>PowerPoint Presentation</vt:lpstr>
      <vt:lpstr>Dataset  Information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Chinta</dc:creator>
  <cp:lastModifiedBy>Chinta</cp:lastModifiedBy>
  <cp:revision>143</cp:revision>
  <dcterms:created xsi:type="dcterms:W3CDTF">2025-12-04T15:06:23Z</dcterms:created>
  <dcterms:modified xsi:type="dcterms:W3CDTF">2025-12-14T13:46:24Z</dcterms:modified>
</cp:coreProperties>
</file>